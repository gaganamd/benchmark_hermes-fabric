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800" b="1">
                <a:solidFill>
                  <a:srgbClr val="172334"/>
                </a:solidFill>
              </a:defRPr>
            </a:pPr>
            <a:r>
              <a:t>Vlayx Due Diligence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556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485260"/>
                </a:solidFill>
              </a:defRPr>
            </a:pPr>
            <a:r>
              <a:t>Prepared from recursive review of target folder tree and ZIP contents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148840"/>
          <a:ext cx="85039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3124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Scope item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/DD/Vlayx inputs - for testing</a:t>
                      </a:r>
                    </a:p>
                  </a:txBody>
                  <a:tcPr/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Tree files inventoried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582 files</a:t>
                      </a:r>
                    </a:p>
                  </a:txBody>
                  <a:tcPr/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ZIP-expanded files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135 files</a:t>
                      </a:r>
                    </a:p>
                  </a:txBody>
                  <a:tcPr/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Extractor errors after 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124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 Jun 2026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 (see Source Register slides / source_register.csv for file paths)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Corpus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Every file in the tree was inventoried; ZIPs were expanded into the work area for content extraction.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55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File type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496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XLS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Tally .1800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Tally .TSF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TXT/CSV/DOCX/ZIP/metadata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1234440"/>
            <a:ext cx="676656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9"/>
                </a:solidFill>
              </a:defRPr>
            </a:pPr>
            <a:r>
              <a:t>Substantive text extracted from PDFs, Excel workbooks, PowerPoint decks, DOCX, CSV/TXT, Tally text-like files, and ZIP inventories. [S0]</a:t>
            </a:r>
          </a:p>
          <a:p>
            <a:pPr>
              <a:spcAft>
                <a:spcPts val="600"/>
              </a:spcAft>
              <a:defRPr sz="1250">
                <a:solidFill>
                  <a:srgbClr val="262D39"/>
                </a:solidFill>
              </a:defRPr>
            </a:pPr>
            <a:r>
              <a:t>Image files were inventoried and visually reviewed into image_review.csv; ZIP duplicates were tracked in the manifest. [S0/S24]</a:t>
            </a:r>
          </a:p>
          <a:p>
            <a:pPr>
              <a:spcAft>
                <a:spcPts val="600"/>
              </a:spcAft>
              <a:defRPr sz="1250">
                <a:solidFill>
                  <a:srgbClr val="262D39"/>
                </a:solidFill>
              </a:defRPr>
            </a:pPr>
            <a:r>
              <a:t>Full audit trail: manifest.csv, coverage.csv, image_review.csv, extracted_text/*, and zip_expanded/* in DD/Vlayx_DD_work. [S0]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S0, S24 (see Source Register slides / source_register.csv for file paths)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Executive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Risk discovery view; claims below are document-traced.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Company is incorporated as Valyx Wealthtech Private Limited, CIN U62099KA2023PTC175741, and self-certified as an IT Services/Product Development startup valid to 7 Jul 2033 if eligibility remains met. [S1/S20]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FY25 statutory financials show INR 0.897m revenue from operations, INR 3.155m other income, INR 15.272m expenses, and INR 9.656m loss after deferred-tax credit. [S1]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FY26 YTD accounts are not diligence-ready: books extract shows INR 9.673m operating income while provisional FR shows INR 6.777m total income for the same 28 Feb 2026 cut-off. [S2/S4]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Commercial proof is real but early: current customer ACV list totals INR 8.95m, with pilots/prospects adding INR 11.5m expected first-year ACV, but executed contracts are limited in the corpus. [S10/S14/S16]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Highest immediate control issue: tax/GST/TRACES credentials are stored in plaintext in a document. [S22]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S1, S2, S4, S10, S14, S16, S20, S22 (see Source Register slides / source_register.csv for file paths)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Company &amp; Corporate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Identity, ownership, and governance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Valyx was incorporated on 8 Jul 2023, with registered office in Bengaluru and business described as information technology software-as-a-service. [S1/S20]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Directors/signatories listed in financials are Avishek Ray (DIN 09146884) and Anirudh Bhargava (DIN 10231484). [S1/S2]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Cap table sheet lists holdings: Avishek 57.56%, Anirudh 19.19%, Waveform 11.65%, Huddle 8.44%, Propel 1.86%, Bharat Founders Fund 1.11%, Sahil Kini 0.18%.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SSHA dated 28 Aug 2023 states the company business as software platform plus financial services including treasury management and financing discovery. [S19]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Founder employment agreements appoint Avishek as Founder &amp; CEO and Anirudh as Founder &amp; CTO, effective 15 Aug 2023. [S18]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S1, S2, S10, S18, S19, S20 (see Source Register slides / source_register.csv for file paths)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Product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Billing/receivables automation proposition.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order form describes Valyx as a cloud-based billing, revenue management, reconciliation platform automating billing, invoicing, collections, and receivables reconciliation. [S14]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service term is 1 Apr 2026 to 31 Mar 2027 with capacity for 50,000 invoices and 50,000 payments per month. [S14]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AGI/Hindware scope frames the product as automating payment follow-up, customer on-account suggestions, payment advice reading, invoice knock-off, ledger communication, and TDS follow-up. [S16]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Pricing proposal includes INR 465k one-time setup/configuration fees plus usage fees such as INR 30 per POD, INR 50 per payment advice, and INR 16 per ageing report. [S12]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Operational dependency: org chart places CEO over sales/procurement and CTO/CISO/DevOps over engineering, with design, HR, customer success, and founder's office as functions. [S17]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S12, S14, S16, S17 (see Source Register slides / source_register.csv for file paths)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Commercial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Current ACV, pilots, and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Bucket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Documented items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Current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Fynd, LetsTransport, Bhawar, ClickPost, Cygnet, Zippee, Amaze, QED, Vinculum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INR 8.95m annual revenue list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Piloting/strong prospects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Hindware, AGI, Setu, Synokem, PSB Alliance, Freighttiger, Jeena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INR 11.5m expected first-year ACV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Named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HCCB, Movin, Unicommerce, Delhivery, CP Plus, Arvind Fashions, Phicommerce, Grant Thornton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Stage-level only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Outbound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876 enrolled, 90 replies, 40 meetings booked/done in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No closed-deal count shown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10698480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Upsell notes are qualitative for ClickPost and Cygnet; value is not quantified in the customer sheet. [S10]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Pipeline needs conversion proof: the tracker has meetings and replies, but total deals created is blank in the summary area. [S13]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S10, S11, S13 (see Source Register slides / source_register.csv for file paths)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Reported statutory/provisional financials.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INR m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FY25 actuals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YTD Feb-26 provisional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Revenue from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5.663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Other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3.155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1.114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Total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4.052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6.777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Total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15.272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18.206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Profit before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(11.220)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(11.429)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PAT / current year 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(9.656)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(11.429)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34440"/>
            <a:ext cx="521208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62D39"/>
                </a:solidFill>
              </a:defRPr>
            </a:pPr>
            <a:r>
              <a:t>Expense base is primarily people: FY26 YTD employee benefits expense is INR 15.788m, 86.7% of total expenses. [S2]</a:t>
            </a:r>
          </a:p>
          <a:p>
            <a:pPr>
              <a:spcAft>
                <a:spcPts val="600"/>
              </a:spcAft>
              <a:defRPr sz="1120">
                <a:solidFill>
                  <a:srgbClr val="262D39"/>
                </a:solidFill>
              </a:defRPr>
            </a:pPr>
            <a:r>
              <a:t>FY25 loss is reduced by INR 1.563m deferred tax credit; no current tax is shown in FY25 or FY26 YTD. [S1/S2]</a:t>
            </a:r>
          </a:p>
          <a:p>
            <a:pPr>
              <a:spcAft>
                <a:spcPts val="600"/>
              </a:spcAft>
              <a:defRPr sz="1120">
                <a:solidFill>
                  <a:srgbClr val="262D39"/>
                </a:solidFill>
              </a:defRPr>
            </a:pPr>
            <a:r>
              <a:t>The audited/provisional workbooks include formulas and #REF references in cash flow areas, so the financial model needs reconstruction before reliance. [S1/S2]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S1, S2 (see Source Register slides / source_register.csv for file paths)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Books Extract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Material inconsistency at the FY26 YTD cut-off.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76072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Books extract YTD Feb-26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Provisional FR YTD Feb-26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Sales / revenue from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5.663m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5.663m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Agrees</a:t>
                      </a:r>
                    </a:p>
                  </a:txBody>
                  <a:tcPr/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Interest/other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4.010m interest + INR 0.021m refund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1.114m other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~2.9m unexplained difference</a:t>
                      </a:r>
                    </a:p>
                  </a:txBody>
                  <a:tcPr/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Total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9.673m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6.777m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Does not reconcile</a:t>
                      </a:r>
                    </a:p>
                  </a:txBody>
                  <a:tcPr/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Cash/bank/FD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Bank INR 14.752m plus FD INR 20.000m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Cash and bank balances INR 42.995m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Classification/reconciliation gap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389120"/>
            <a:ext cx="10789920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D39"/>
                </a:solidFill>
              </a:defRPr>
            </a:pPr>
            <a:r>
              <a:t>This is a diligence blocker for valuation: management accounts, GL, bank statements, FD schedules, and financial statements must be tied out to one cut-off package. [S2/S4/S6]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S2, S4, S6 (see Source Register slides / source_register.csv for file paths)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Revenue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Invoice support and customer concentration.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Unique invoice support reviewed: 48 unique customer invoice PDFs in the FDD invoice folder, totaling INR 9.471m gross invoice value. [S9]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The invoice support is concentrated: Shopsense/Fynd invoices total INR 8.022m, about 84.7% of the unique invoice sample. [S9]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DIPTAB invoices total INR 1.449m in the same unique invoice sample. [S9]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AR aging separately includes SMS Supply Port, Collegedunia, QED, Bhawar, ZFW, Amaze, and DIPTAB, showing the invoice sample is not a complete revenue population. [S8/S9]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Required follow-up: complete customer-wise revenue bridge from GL to invoices to bank receipts and deferred/unbilled revenue schedules. [S4/S8/S9]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S4, S8, S9 (see Source Register slides / source_register.csv for file paths)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Working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AR, AP, and cash/FD 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1792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INR 1.102m total receivables at 28 Feb 2026; INR 0.439m aged 6-12 months and INR 0.151m aged 1-2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Collection/provision risk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Specific overdue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Collegedunia and SMS Supply Port include invoices 392-545 days 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Quality of revenue risk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Trade payable schedule shows INR 22,356 MSME payable at 28 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Low quantum; verify MSME compliance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FDs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Two INR 10.0m fixed deposits started 28 Nov 2025 at 6.60%, maturity 28 May 2027, no lien marked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Cash support, but confirm unrestricted use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80560"/>
            <a:ext cx="10789920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Bank confirmation image is dated 21 May 2026 and confirms the FD balances as of 28 Feb 2026. [S24]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S7, S8, S23, S24 (see Source Register slides / source_register.csv for file paths)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Tax &amp; Statutory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Compliance evidence and issues.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GSTIN 29AAJCV5054D1Z6 appears across invoices, GST workbooks, and statutory documents. [S1/S9]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GST/TDS folders include challans, GSTR-2B/GST registers, and TDS payable workbooks through FY26, indicating records exist for statutory verification.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YTD Feb-26 balance sheet records output IGST INR 10,121, output CGST INR 29,070, output SGST INR 29,070, TDS payable INR 12,302, and TDS on salaries INR 89,627. [S6]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Plaintext credentials are present for Professional Tax, GST, Income Tax, and TRACES; this is a live security/compliance control failure. [S22]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Immediate remediation: rotate all exposed credentials, document MFA/vault controls, and confirm no unauthorized portal activity. [S22]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S0, S1, S6, S9, S22 (see Source Register slides / source_register.csv for file paths)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Legal &amp;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Executed agreements and open commercial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agreement is digitally signed by Avishek Ray and Pooja Agarwal on 20 Feb 2026; service period is 1 Apr 2026 to 31 Mar 2027. [S14]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Awfis agreement provides 8 seats from 18 Nov 2024 to 15 Dec 2025 with 2-month notice period and signed execution metadata. [S15]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SSHA dated 28 Aug 2023 documents pre-seed CCPS investment terms and investor rights. [S19]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Founder employment agreements exist for both founders; each includes full-time duty language and IP/confidentiality provisions. [S18]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Data gap: several current/pipeline customers in KPI materials do not have corresponding executed contracts in the reviewed contract folders. [S10/S14/S16]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S10, S14, S15, S16, S18, S19 (see Source Register slides / source_register.csv for file paths)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People &amp;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Team structure and hiring needs.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Org chart shows two-founder leadership: Anirudh over CTO/CISO/DevOps and engineering; Avishek over CEO, sales, and procurement. [S17]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The same org chart lists engineering, design, HR, customer success, and founder's office as functions, but does not show headcount by person or reporting line depth. [S17]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Leadership open roles slide identifies six critical hires: backend billing lead engineer, backend receivable lead engineer, UX design lead, sales lead, marketing lead, customer support lead. [S17]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Payroll books show employee benefits as the largest expense line; FY26 YTD employee benefits were INR 15.788m. [S2]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Request full employee roster, ESOP/equity grants, offer letters, payroll statutory filings, attrition, and founder vesting status. [S2/S17/S18/S19]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S2, S17, S18, S19 (see Source Register slides / source_register.csv for file paths)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Technology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Product controls and diligence concerns.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Mobile device policy is based on ISO/IEC 27001:2022, document no. Valyx/II/ISM/POL-12, version 1.0, effective 30 Jun 2025. [S21]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The same policy lists CISO as approver and classifies the document as internal. [S21]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Security posture is inconsistent with policy maturity because tax/GST/TRACES credentials are exposed in plaintext in the diligence corpus. [S22]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SaaS terms hold customer responsible for account/password security and equipment; Valyx should show equivalent internal access controls for its own systems. [S14/S22]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Data gap: no SOC2/ISO certificate, pen test, cloud architecture, access logs, SDLC evidence, incident register, or DPA/security addendum was found in the reviewed corpus. [S0/S21/S22]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S0, S14, S21, S22 (see Source Register slides / source_register.csv for file paths)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Market, Valuation &amp;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Projection assumptions need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Projection workbook assumes FY26-FY31 annual revenue grows from USD 0.4m to USD 37.864m, translating to INR 3.36cr to INR 318.06cr.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Projection model assumes FY26 10 users growing to 400 by FY31 and software ACV rising from USD 40k to USD 80.454k.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Model lists TAM assumption of 45,000 companies in INR 30-500cr turnover range and notes external TAM counts, but no independently sourced market study is tied to the model.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Comparable deals tab cites 20x-50x revenue-to-valuation multiples for billing/AR/procurement automation companies.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Risk: plan depends on conversion of current pipeline and high ACVs while FY26 YTD revenue from operations is INR 5.663m. [S2/S10]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S2, S10 (see Source Register slides / source_register.csv for file paths)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Inconsistencies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Items requiring reconciliation before deal reliance.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FY26 income mismatch: books extract reports INR 5.663m sales plus INR 4.010m interest income, while provisional FR reports INR 5.663m revenue and INR 1.114m other income. [S2/S4]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FY26 cash/FD mismatch: books balance sheet presents bank balances plus two INR 10m FDs separately, while provisional FR presents INR 42.995m cash and bank balances. [S2/S6]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Financial workbook integrity issue: cash flow worksheets include #REF references, including operating cash flow lines. [S1/S2]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Invoice support completeness issue: invoice folder sample has two main customers, while AR aging includes additional overdue customers not represented as a complete invoice pack. [S8/S9]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Policy-control mismatch: an ISO-based mobile device policy exists, but plaintext statutory credentials are included in the data room. [S21/S22]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S1, S2, S4, S6, S8, S9, S21, S22 (see Source Register slides / source_register.csv for file paths)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Prioritized diligence risks.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51560"/>
          <a:ext cx="115671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6400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Src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FY26 P&amp;L/cash presentation does not reconcile across books and provisional 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S2/S4/S6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Rebuild management accounts from GL + bank + FD schedules before valuation reliance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Plaintext tax/GST/TRACES credentials stored in a diligence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Rotate credentials, remove shared secrets, enforce vault/MFA evidence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Revenue evidence is concentrated: unique invoice sample totals INR 9.47m, ~84.7% from Shopsense/Fynd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Request complete customer-wise revenue, contracts, collections, and churn bridge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AR aging shows INR 1.10m due at 28 Feb 2026, including INR 0.59m older than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S7/S8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Confirm post-period collections and provision policy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Financial workbook contains #REF/formula issues in cash flow sections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S1/S2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Obtain locked signed financials and audit trail from accountant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Go-to-market depends on uncontracted pilots/prospects; pipeline slide lists named prospects but no executed docs for most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S10/S11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Confirm stage, owner, next step, commercial terms, and probability for each prospect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S1, S2, S4, S6, S7, S8, S9, S10, S13, S22 (see Source Register slides / source_register.csv for file paths)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Data Gaps &amp; Confirmatory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Open items before investment/closing.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Financial: locked FY26 management accounts, GL-to-FS mapping, bank reconciliation, FD confirmations, deferred tax support, revenue recognition memo. [S1/S2/S4/S6/S24]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Revenue: complete contract folder for every current customer; invoice-to-bank collections bridge; ARR/MRR/churn cohort; unbilled/deferred revenue schedule. [S8/S9/S10/S14]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Legal: cap table from statutory registers, latest AoA/MoA, board minutes after pre-seed, conditions subsequent tracker, IP assignment for employees/contractors. [S10/S19]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Tax: GST/TDS/PT returns with challan reconciliation and portal access logs after credential rotation. [S0/S22]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Security/product: architecture diagram, cloud access list, code/IP ownership, data processing agreements, pen-test/SOC2/ISO evidence, backup/DR proof. [S0/S21/S22]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Operations/people: current org roster, payroll compliance, offer letters, contractor agreements, hiring plan tied to burn forecast. [S2/S17/S18]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S0, S1, S2, S4, S6, S8, S9, S10, S14, S17, S18, S19, S21, S22, S24 (see Source Register slides / source_register.csv for file paths)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Source Register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Source IDs used in this deck.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115671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359228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Source file / corpus artifact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DD/Vlayx_DD_work/output/manifest.csv and coverage.csv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Input/General/FY 2024-25/VWPL_ FR 31.3.2025 - Actuals.xlsx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Input/General/YTD/VWPL_ PROVISIONAL FR 28.2.2026 - Actuals.xlsx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Extracts/Profit and Loss - Valyx FDD.xlsx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Extracts/Profit and Loss till YTD Feb-26.xlsx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Extracts/Balance Sheet FY 2024-25.xlsx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Extracts/Balance Sheet YTD Feb-26.xlsx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Input/Assets/Trade Receivables/DD8.7 Aging of AR/Aging of Accounts Receivables - 28.2.2026 - Actuals.pdf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Input/Assets/Trade Receivables/DD8.7 Aging of AR/AR Aging Details By Invoice Due Date.pdf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Input/FDD_Customer_Invoices/*.pdf and duplicate invoice folder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Input/KPIs/MIS_RevenueProjection_Customers_Pipeline_Comparables.xlsx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Docs/Metrics_till_Mar2026.csv</a:t>
                      </a:r>
                    </a:p>
                  </a:txBody>
                  <a:tcPr/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Docs/Pricing Proposal.xlsx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 (see Source Register slides / source_register.csv for file paths)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Source Register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Source IDs used in this deck.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115671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339634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Source file / corpus artifact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Docs/Valyx __ Automation Tracker.xlsx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Docs/Mooving_Valyx_Agreement_928b981f-9535-4fe1-818b-a7388d1a4d89.pdf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Inputs/3. Hindware Data Request/Awfis_valyx_agreement-.pdf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Inputs/3. Hindware Data Request/Valyx - AI Powered Billing for AGI Hindware - Scope.pdf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Input/Organizationand structure/Org Chart Updated.pptx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Inputs/PreSeedDiligenceProofs/CP Proofs/Valyx - Founder Employment Agreement - Anirudh/Avishek.pdf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Inputs/PreSeedDiligenceProofs/CP Proofs/Executed Version - Valyx - Waveform SSHA (August 28 2023).pdf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Docs/Startup Certificate.pdf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Docs/Valyx_Mobile device Policy.docx.pdf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Input/Login Credentials of Valyx.docx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Input/Assets/BS - Liabilities/Trade Payable List along with MSME vendors.xlsx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Input/Fixed Deposits/*.txt; FD balance confirmation images</a:t>
                      </a:r>
                    </a:p>
                  </a:txBody>
                  <a:tcPr/>
                </a:tc>
              </a:tr>
              <a:tr h="33963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Inputs/3. Hindware Data Request/Valyx Valuation report.pdf; MIS cap table sheet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 (see Source Register slides / source_register.csv for file paths)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Coverage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Inventory evidence generated from recursive extraction.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Full tree inventory: DD/Vlayx_DD_work/output/manifest.csv.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Extraction status and file-type counts: DD/Vlayx_DD_work/output/coverage.csv.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Per-file extracted content: DD/Vlayx_DD_work/extracted_text/*.txt; image visual review notes: DD/Vlayx_DD_work/output/image_review.csv.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Expanded archive contents: DD/Vlayx_DD_work/zip_expanded/*.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All 582 files in the target folder tree and 135 ZIP-contained files were represented in the manifest with SHA-256, size, extractor, status, and extracted text path. [S0]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700" b="0">
                <a:solidFill>
                  <a:srgbClr val="5F6773"/>
                </a:solidFill>
              </a:defRPr>
            </a:pPr>
            <a:r>
              <a:t>Sources: S0 (see Source Register slides / source_register.csv for file paths)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